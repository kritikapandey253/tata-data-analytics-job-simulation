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04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22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7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-2011680"/>
            <a:ext cx="5852160" cy="5852160"/>
          </a:xfrm>
          <a:prstGeom prst="ellipse">
            <a:avLst/>
          </a:prstGeom>
          <a:solidFill>
            <a:srgbClr val="123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41280" y="4023360"/>
            <a:ext cx="3840480" cy="3840480"/>
          </a:xfrm>
          <a:prstGeom prst="ellipse">
            <a:avLst/>
          </a:prstGeom>
          <a:solidFill>
            <a:srgbClr val="123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5C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GELDIUM  •  AGENTIC AI PROGRAMME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9509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Collections Strategy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841248" y="3611880"/>
            <a:ext cx="1463040" cy="54864"/>
          </a:xfrm>
          <a:prstGeom prst="rect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20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Agentic AI for Scalable, Fair, and Effective Debt Management at Geldium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0B22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88952" cy="64008"/>
          </a:xfrm>
          <a:prstGeom prst="rect">
            <a:avLst/>
          </a:prstGeom>
          <a:solidFill>
            <a:srgbClr val="35C6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5C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Deck Covers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GELDIUM  |  AI-Powered Collections Strategy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33375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FE7ED"/>
            </a:solidFill>
            <a:prstDash val="solid"/>
          </a:ln>
          <a:effectLst>
            <a:outerShdw blurRad="101600" dist="25400" dir="5400000" algn="bl" rotWithShape="0">
              <a:srgbClr val="9FB0B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1783080"/>
            <a:ext cx="68580" cy="1783080"/>
          </a:xfrm>
          <a:prstGeom prst="rect">
            <a:avLst/>
          </a:prstGeom>
          <a:solidFill>
            <a:srgbClr val="1F7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2075688"/>
            <a:ext cx="475488" cy="475488"/>
          </a:xfrm>
          <a:prstGeom prst="ellipse">
            <a:avLst/>
          </a:prstGeom>
          <a:solidFill>
            <a:srgbClr val="1F7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20756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2057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Workflow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2697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 Decision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389120" y="1783080"/>
            <a:ext cx="33375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FE7ED"/>
            </a:solidFill>
            <a:prstDash val="solid"/>
          </a:ln>
          <a:effectLst>
            <a:outerShdw blurRad="101600" dist="25400" dir="5400000" algn="bl" rotWithShape="0">
              <a:srgbClr val="9FB0B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89120" y="1783080"/>
            <a:ext cx="68580" cy="1783080"/>
          </a:xfrm>
          <a:prstGeom prst="rect">
            <a:avLst/>
          </a:prstGeom>
          <a:solidFill>
            <a:srgbClr val="35C6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2075688"/>
            <a:ext cx="475488" cy="475488"/>
          </a:xfrm>
          <a:prstGeom prst="ellipse">
            <a:avLst/>
          </a:prstGeom>
          <a:solidFill>
            <a:srgbClr val="35C6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9160" y="20756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49240" y="2057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Workflow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09160" y="2697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to Learning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92440" y="1783080"/>
            <a:ext cx="33375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FE7ED"/>
            </a:solidFill>
            <a:prstDash val="solid"/>
          </a:ln>
          <a:effectLst>
            <a:outerShdw blurRad="101600" dist="25400" dir="5400000" algn="bl" rotWithShape="0">
              <a:srgbClr val="9FB0B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092440" y="1783080"/>
            <a:ext cx="68580" cy="1783080"/>
          </a:xfrm>
          <a:prstGeom prst="rect">
            <a:avLst/>
          </a:prstGeom>
          <a:solidFill>
            <a:srgbClr val="1F7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412480" y="2075688"/>
            <a:ext cx="475488" cy="475488"/>
          </a:xfrm>
          <a:prstGeom prst="ellipse">
            <a:avLst/>
          </a:prstGeom>
          <a:solidFill>
            <a:srgbClr val="1F7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412480" y="20756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52560" y="2057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Foundation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412480" y="2697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85800" y="3931920"/>
            <a:ext cx="33375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FE7ED"/>
            </a:solidFill>
            <a:prstDash val="solid"/>
          </a:ln>
          <a:effectLst>
            <a:outerShdw blurRad="101600" dist="25400" dir="5400000" algn="bl" rotWithShape="0">
              <a:srgbClr val="9FB0B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85800" y="3931920"/>
            <a:ext cx="68580" cy="1783080"/>
          </a:xfrm>
          <a:prstGeom prst="rect">
            <a:avLst/>
          </a:prstGeom>
          <a:solidFill>
            <a:srgbClr val="35C6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05840" y="4224528"/>
            <a:ext cx="475488" cy="475488"/>
          </a:xfrm>
          <a:prstGeom prst="ellipse">
            <a:avLst/>
          </a:prstGeom>
          <a:solidFill>
            <a:srgbClr val="35C6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05840" y="42245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45920" y="4206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Autonomy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05840" y="4846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Human Oversight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389120" y="3931920"/>
            <a:ext cx="33375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FE7ED"/>
            </a:solidFill>
            <a:prstDash val="solid"/>
          </a:ln>
          <a:effectLst>
            <a:outerShdw blurRad="101600" dist="25400" dir="5400000" algn="bl" rotWithShape="0">
              <a:srgbClr val="9FB0B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389120" y="3931920"/>
            <a:ext cx="68580" cy="1783080"/>
          </a:xfrm>
          <a:prstGeom prst="rect">
            <a:avLst/>
          </a:prstGeom>
          <a:solidFill>
            <a:srgbClr val="1F7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09160" y="4224528"/>
            <a:ext cx="475488" cy="475488"/>
          </a:xfrm>
          <a:prstGeom prst="ellipse">
            <a:avLst/>
          </a:prstGeom>
          <a:solidFill>
            <a:srgbClr val="1F7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09160" y="42245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49240" y="4206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709160" y="4846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&amp; Regulatory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8092440" y="3931920"/>
            <a:ext cx="33375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FE7ED"/>
            </a:solidFill>
            <a:prstDash val="solid"/>
          </a:ln>
          <a:effectLst>
            <a:outerShdw blurRad="101600" dist="25400" dir="5400000" algn="bl" rotWithShape="0">
              <a:srgbClr val="9FB0B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092440" y="3931920"/>
            <a:ext cx="68580" cy="1783080"/>
          </a:xfrm>
          <a:prstGeom prst="rect">
            <a:avLst/>
          </a:prstGeom>
          <a:solidFill>
            <a:srgbClr val="35C6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412480" y="4224528"/>
            <a:ext cx="475488" cy="475488"/>
          </a:xfrm>
          <a:prstGeom prst="ellipse">
            <a:avLst/>
          </a:prstGeom>
          <a:solidFill>
            <a:srgbClr val="35C6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412480" y="42245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052560" y="4206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Value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8412480" y="4846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&amp; Qualitative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0B22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88952" cy="64008"/>
          </a:xfrm>
          <a:prstGeom prst="rect">
            <a:avLst/>
          </a:prstGeom>
          <a:solidFill>
            <a:srgbClr val="35C6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5C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Workflow: Data to Decision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GELDIUM  |  AI-Powered Collections Strategy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3429000" cy="38862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FE7ED"/>
            </a:solidFill>
            <a:prstDash val="solid"/>
          </a:ln>
          <a:effectLst>
            <a:outerShdw blurRad="101600" dist="25400" dir="5400000" algn="bl" rotWithShape="0">
              <a:srgbClr val="9FB0B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68580" cy="3886200"/>
          </a:xfrm>
          <a:prstGeom prst="rect">
            <a:avLst/>
          </a:prstGeom>
          <a:solidFill>
            <a:srgbClr val="1F7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2057400"/>
            <a:ext cx="475488" cy="475488"/>
          </a:xfrm>
          <a:prstGeom prst="ellipse">
            <a:avLst/>
          </a:prstGeom>
          <a:solidFill>
            <a:srgbClr val="1F7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20574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7432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Ingestion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05840" y="324612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pipeline processing customer demographics (Age, Employment), financial behavior (Credit Utilization), and transaction history (Missed Payments).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407408" y="1783080"/>
            <a:ext cx="3429000" cy="38862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FE7ED"/>
            </a:solidFill>
            <a:prstDash val="solid"/>
          </a:ln>
          <a:effectLst>
            <a:outerShdw blurRad="101600" dist="25400" dir="5400000" algn="bl" rotWithShape="0">
              <a:srgbClr val="9FB0B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07408" y="1783080"/>
            <a:ext cx="68580" cy="3886200"/>
          </a:xfrm>
          <a:prstGeom prst="rect">
            <a:avLst/>
          </a:prstGeom>
          <a:solidFill>
            <a:srgbClr val="35C6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73168" y="2057400"/>
            <a:ext cx="475488" cy="475488"/>
          </a:xfrm>
          <a:prstGeom prst="ellipse">
            <a:avLst/>
          </a:prstGeom>
          <a:solidFill>
            <a:srgbClr val="35C6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73168" y="20574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73168" y="27432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Engine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773168" y="324612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trained Logistic Regression predictive model alongside static business rules to generate an accurate 30-day delinquency probability score.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174736" y="1783080"/>
            <a:ext cx="3429000" cy="38862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FE7ED"/>
            </a:solidFill>
            <a:prstDash val="solid"/>
          </a:ln>
          <a:effectLst>
            <a:outerShdw blurRad="101600" dist="25400" dir="5400000" algn="bl" rotWithShape="0">
              <a:srgbClr val="9FB0B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174736" y="1783080"/>
            <a:ext cx="68580" cy="3886200"/>
          </a:xfrm>
          <a:prstGeom prst="rect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540496" y="2057400"/>
            <a:ext cx="475488" cy="475488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540496" y="20574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40496" y="27432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Assessment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540496" y="324612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system autonomously evaluates the contextual risk score (e.g., sudden job loss vs. habitual late payment) to determine the most effective intervention path.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0B22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88952" cy="64008"/>
          </a:xfrm>
          <a:prstGeom prst="rect">
            <a:avLst/>
          </a:prstGeom>
          <a:solidFill>
            <a:srgbClr val="35C6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5C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Workflow: Action to Learning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GELDIUM  |  AI-Powered Collections Strategy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521208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FE7ED"/>
            </a:solidFill>
            <a:prstDash val="solid"/>
          </a:ln>
          <a:effectLst>
            <a:outerShdw blurRad="101600" dist="25400" dir="5400000" algn="bl" rotWithShape="0">
              <a:srgbClr val="9FB0B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68580" cy="4023360"/>
          </a:xfrm>
          <a:prstGeom prst="rect">
            <a:avLst/>
          </a:prstGeom>
          <a:solidFill>
            <a:srgbClr val="1F7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1965960"/>
            <a:ext cx="475488" cy="475488"/>
          </a:xfrm>
          <a:prstGeom prst="ellipse">
            <a:avLst/>
          </a:prstGeom>
          <a:solidFill>
            <a:srgbClr val="1F7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1965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1965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Layer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2606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interventions autonomously based on the generated risk score and contextual assessment.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291840"/>
            <a:ext cx="45720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3E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dynamic, personalized SMS payment reminders to low-risk customers.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3E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triggers proactive hardship program enrollment offers for high-risk segments (e.g., unemployed).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3E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 highly complex or edge-case accounts to human agents.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72200" y="1737360"/>
            <a:ext cx="521208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FE7ED"/>
            </a:solidFill>
            <a:prstDash val="solid"/>
          </a:ln>
          <a:effectLst>
            <a:outerShdw blurRad="101600" dist="25400" dir="5400000" algn="bl" rotWithShape="0">
              <a:srgbClr val="9FB0B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72200" y="1737360"/>
            <a:ext cx="68580" cy="4023360"/>
          </a:xfrm>
          <a:prstGeom prst="rect">
            <a:avLst/>
          </a:prstGeom>
          <a:solidFill>
            <a:srgbClr val="35C6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37960" y="1965960"/>
            <a:ext cx="475488" cy="475488"/>
          </a:xfrm>
          <a:prstGeom prst="ellipse">
            <a:avLst/>
          </a:prstGeom>
          <a:solidFill>
            <a:srgbClr val="35C6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37960" y="1965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78040" y="1965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Loop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37960" y="2606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35C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the system continuously evolves and adapts to shifting financial trends.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3291840"/>
            <a:ext cx="45720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3E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the success metrics of interventions (e.g., repayment rates post-SMS).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3E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outcome data back into the Logistic Regression model to refine future predictions.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▪"/>
            </a:pPr>
            <a:r>
              <a:rPr lang="en-US" sz="1450" dirty="0">
                <a:solidFill>
                  <a:srgbClr val="3E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intervention fatigue, allowing the system to adjust frequency and messaging.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0B22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88952" cy="64008"/>
          </a:xfrm>
          <a:prstGeom prst="rect">
            <a:avLst/>
          </a:prstGeom>
          <a:solidFill>
            <a:srgbClr val="35C6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5C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ENGINE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Foundation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GELDIUM  |  AI-Powered Collections Strategy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493776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FE7ED"/>
            </a:solidFill>
            <a:prstDash val="solid"/>
          </a:ln>
          <a:effectLst>
            <a:outerShdw blurRad="101600" dist="25400" dir="5400000" algn="bl" rotWithShape="0">
              <a:srgbClr val="9FB0B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68580" cy="4023360"/>
          </a:xfrm>
          <a:prstGeom prst="rect">
            <a:avLst/>
          </a:prstGeom>
          <a:solidFill>
            <a:srgbClr val="1F7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1965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Model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2860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60120" y="28803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accuracy with high interpretability — every high-risk flag can be explained to regulators and customers.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60120" y="37490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INPUT FEATURES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4069080"/>
            <a:ext cx="4297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100"/>
              </a:lnSpc>
              <a:buSzPct val="100000"/>
              <a:buChar char="▪"/>
            </a:pPr>
            <a:r>
              <a:rPr lang="en-US" sz="1500" dirty="0">
                <a:solidFill>
                  <a:srgbClr val="3E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Utilization</a:t>
            </a:r>
            <a:endParaRPr lang="en-US" sz="1500" dirty="0"/>
          </a:p>
          <a:p>
            <a:pPr marL="342900" indent="-342900">
              <a:lnSpc>
                <a:spcPts val="2100"/>
              </a:lnSpc>
              <a:buSzPct val="100000"/>
              <a:buChar char="▪"/>
            </a:pPr>
            <a:r>
              <a:rPr lang="en-US" sz="1500" dirty="0">
                <a:solidFill>
                  <a:srgbClr val="3E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Debt-to-Income Ratio</a:t>
            </a:r>
            <a:endParaRPr lang="en-US" sz="1500" dirty="0"/>
          </a:p>
          <a:p>
            <a:pPr marL="342900" indent="-342900">
              <a:lnSpc>
                <a:spcPts val="2100"/>
              </a:lnSpc>
              <a:buSzPct val="100000"/>
              <a:buChar char="▪"/>
            </a:pPr>
            <a:r>
              <a:rPr lang="en-US" sz="1500" dirty="0">
                <a:solidFill>
                  <a:srgbClr val="3E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Payments</a:t>
            </a:r>
            <a:endParaRPr lang="en-US" sz="1500" dirty="0"/>
          </a:p>
          <a:p>
            <a:pPr marL="342900" indent="-342900">
              <a:lnSpc>
                <a:spcPts val="2100"/>
              </a:lnSpc>
              <a:buSzPct val="100000"/>
              <a:buChar char="▪"/>
            </a:pPr>
            <a:r>
              <a:rPr lang="en-US" sz="1500" dirty="0">
                <a:solidFill>
                  <a:srgbClr val="3E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500" dirty="0"/>
          </a:p>
          <a:p>
            <a:pPr marL="342900" indent="-342900">
              <a:lnSpc>
                <a:spcPts val="2100"/>
              </a:lnSpc>
              <a:buSzPct val="100000"/>
              <a:buChar char="▪"/>
            </a:pPr>
            <a:r>
              <a:rPr lang="en-US" sz="1500" dirty="0">
                <a:solidFill>
                  <a:srgbClr val="3E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Status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97880" y="1737360"/>
            <a:ext cx="5669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ED"/>
            </a:solidFill>
            <a:prstDash val="solid"/>
          </a:ln>
          <a:effectLst>
            <a:outerShdw blurRad="101600" dist="25400" dir="5400000" algn="bl" rotWithShape="0">
              <a:srgbClr val="9FB0B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897880" y="1737360"/>
            <a:ext cx="68580" cy="914400"/>
          </a:xfrm>
          <a:prstGeom prst="rect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72200" y="1956816"/>
            <a:ext cx="475488" cy="475488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72200" y="1956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12280" y="184708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 &amp; Preprocess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12280" y="213969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encode Employment Status and Month_1–Month_6 payment history.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897880" y="2770632"/>
            <a:ext cx="5669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ED"/>
            </a:solidFill>
            <a:prstDash val="solid"/>
          </a:ln>
          <a:effectLst>
            <a:outerShdw blurRad="101600" dist="25400" dir="5400000" algn="bl" rotWithShape="0">
              <a:srgbClr val="9FB0B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897880" y="2770632"/>
            <a:ext cx="68580" cy="914400"/>
          </a:xfrm>
          <a:prstGeom prst="rect">
            <a:avLst/>
          </a:prstGeom>
          <a:solidFill>
            <a:srgbClr val="35C6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72200" y="2990088"/>
            <a:ext cx="475488" cy="475488"/>
          </a:xfrm>
          <a:prstGeom prst="ellipse">
            <a:avLst/>
          </a:prstGeom>
          <a:solidFill>
            <a:srgbClr val="35C6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72200" y="29900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12280" y="288036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&amp; Scale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12280" y="317296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continuous variables so large numbers don't skew model weights.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897880" y="3803904"/>
            <a:ext cx="5669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ED"/>
            </a:solidFill>
            <a:prstDash val="solid"/>
          </a:ln>
          <a:effectLst>
            <a:outerShdw blurRad="101600" dist="25400" dir="5400000" algn="bl" rotWithShape="0">
              <a:srgbClr val="9FB0B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897880" y="3803904"/>
            <a:ext cx="68580" cy="914400"/>
          </a:xfrm>
          <a:prstGeom prst="rect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72200" y="4023360"/>
            <a:ext cx="475488" cy="475488"/>
          </a:xfrm>
          <a:prstGeom prst="ellipse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72200" y="40233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12280" y="391363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&amp; Score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12280" y="420624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sum passed through a sigmoid to produce a probability between 0 and 1.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897880" y="4837176"/>
            <a:ext cx="56692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7ED"/>
            </a:solidFill>
            <a:prstDash val="solid"/>
          </a:ln>
          <a:effectLst>
            <a:outerShdw blurRad="101600" dist="25400" dir="5400000" algn="bl" rotWithShape="0">
              <a:srgbClr val="9FB0B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897880" y="4837176"/>
            <a:ext cx="68580" cy="914400"/>
          </a:xfrm>
          <a:prstGeom prst="rect">
            <a:avLst/>
          </a:prstGeom>
          <a:solidFill>
            <a:srgbClr val="35C6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172200" y="5056632"/>
            <a:ext cx="475488" cy="475488"/>
          </a:xfrm>
          <a:prstGeom prst="ellipse">
            <a:avLst/>
          </a:prstGeom>
          <a:solidFill>
            <a:srgbClr val="35C6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72200" y="50566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12280" y="4946904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12280" y="523951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0.5 flags “At-Risk / Delinquent”; below 0.5 is “Non-Delinquent”.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0B22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88952" cy="64008"/>
          </a:xfrm>
          <a:prstGeom prst="rect">
            <a:avLst/>
          </a:prstGeom>
          <a:solidFill>
            <a:srgbClr val="35C6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5C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Autonomy vs. Human Oversight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GELDIUM  |  AI-Powered Collections Strategy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27080" cy="3349752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AI (Autonomous Action)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Human-in-the-Loop (Oversight)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A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222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Outreach Strategy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E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Sending automated payment reminders and dynamically adjusting message timing based on behavior.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E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Reviewing communication complaints or highly sensitive, escalated customer service cases.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222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Hardship Programs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E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Auto-approving standardized payment deferrals for verified, qualifying high-risk customers.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E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Reviewing and manually approving/denying complex, high-value, or borderline hardship applications.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222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Escalations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E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Flagging accounts that exhibit sudden, uncharacteristic behavioral patterns for immediate review.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E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Making the final decision on severe interventions, policy exceptions, or initiating legal processes.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0B22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88952" cy="64008"/>
          </a:xfrm>
          <a:prstGeom prst="rect">
            <a:avLst/>
          </a:prstGeom>
          <a:solidFill>
            <a:srgbClr val="35C6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5C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BY DESIGN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Ethical &amp; Regulatory Guardrails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GELDIUM  |  AI-Powered Collections Strategy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3429000" cy="384048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FE7ED"/>
            </a:solidFill>
            <a:prstDash val="solid"/>
          </a:ln>
          <a:effectLst>
            <a:outerShdw blurRad="101600" dist="25400" dir="5400000" algn="bl" rotWithShape="0">
              <a:srgbClr val="9FB0B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68580" cy="3840480"/>
          </a:xfrm>
          <a:prstGeom prst="rect">
            <a:avLst/>
          </a:prstGeom>
          <a:solidFill>
            <a:srgbClr val="1F7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2103120"/>
            <a:ext cx="566928" cy="566928"/>
          </a:xfrm>
          <a:prstGeom prst="roundRect">
            <a:avLst>
              <a:gd name="adj" fmla="val 48387"/>
            </a:avLst>
          </a:prstGeom>
          <a:solidFill>
            <a:srgbClr val="1F7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2103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28346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Fairness Checks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05840" y="333756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audits using Disparate Impact metrics to ensure no demographic group is systematically penalized or disadvantaged by the predictive model.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407408" y="1783080"/>
            <a:ext cx="3429000" cy="384048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FE7ED"/>
            </a:solidFill>
            <a:prstDash val="solid"/>
          </a:ln>
          <a:effectLst>
            <a:outerShdw blurRad="101600" dist="25400" dir="5400000" algn="bl" rotWithShape="0">
              <a:srgbClr val="9FB0B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07408" y="1783080"/>
            <a:ext cx="68580" cy="3840480"/>
          </a:xfrm>
          <a:prstGeom prst="rect">
            <a:avLst/>
          </a:prstGeom>
          <a:solidFill>
            <a:srgbClr val="35C6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73168" y="2103120"/>
            <a:ext cx="566928" cy="566928"/>
          </a:xfrm>
          <a:prstGeom prst="roundRect">
            <a:avLst>
              <a:gd name="adj" fmla="val 48387"/>
            </a:avLst>
          </a:prstGeom>
          <a:solidFill>
            <a:srgbClr val="35C6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73168" y="2103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73168" y="28346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Explainability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773168" y="333756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Utilizing tools like SHAP values to ensure every high-risk flag can be clearly interpreted, allowing agents to justify decisions to affected customers.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174736" y="1783080"/>
            <a:ext cx="3429000" cy="384048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FE7ED"/>
            </a:solidFill>
            <a:prstDash val="solid"/>
          </a:ln>
          <a:effectLst>
            <a:outerShdw blurRad="101600" dist="25400" dir="5400000" algn="bl" rotWithShape="0">
              <a:srgbClr val="9FB0B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174736" y="1783080"/>
            <a:ext cx="68580" cy="3840480"/>
          </a:xfrm>
          <a:prstGeom prst="rect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540496" y="2103120"/>
            <a:ext cx="566928" cy="566928"/>
          </a:xfrm>
          <a:prstGeom prst="roundRect">
            <a:avLst>
              <a:gd name="adj" fmla="val 48387"/>
            </a:avLst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540496" y="2103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540496" y="28346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540496" y="3337560"/>
            <a:ext cx="2834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Aligning automated actions with strict financial regulations (ECOA, GDPR) and maintaining comprehensive audit trails for regulatory oversight.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0B22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88952" cy="64008"/>
          </a:xfrm>
          <a:prstGeom prst="rect">
            <a:avLst/>
          </a:prstGeom>
          <a:solidFill>
            <a:srgbClr val="35C6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5C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STRATEGY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Measure Success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GELDIUM  |  AI-Powered Collections Strategy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7ED"/>
            </a:solidFill>
            <a:prstDash val="solid"/>
          </a:ln>
          <a:effectLst>
            <a:outerShdw blurRad="101600" dist="25400" dir="5400000" algn="bl" rotWithShape="0">
              <a:srgbClr val="9FB0B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68580" cy="1371600"/>
          </a:xfrm>
          <a:prstGeom prst="rect">
            <a:avLst/>
          </a:prstGeom>
          <a:solidFill>
            <a:srgbClr val="1F7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192938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 (Sensitivity)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critical metric — identify as many actual delinquent customers as possible, minimizing costly false negatives.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178308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7ED"/>
            </a:solidFill>
            <a:prstDash val="solid"/>
          </a:ln>
          <a:effectLst>
            <a:outerShdw blurRad="101600" dist="25400" dir="5400000" algn="bl" rotWithShape="0">
              <a:srgbClr val="9FB0B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72200" y="1783080"/>
            <a:ext cx="68580" cy="1371600"/>
          </a:xfrm>
          <a:prstGeom prst="rect">
            <a:avLst/>
          </a:prstGeom>
          <a:solidFill>
            <a:srgbClr val="35C6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37960" y="192938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AUC-ROC Curve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228600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well the model separates delinquent from non-delinquent classes across probability thresholds.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7ED"/>
            </a:solidFill>
            <a:prstDash val="solid"/>
          </a:ln>
          <a:effectLst>
            <a:outerShdw blurRad="101600" dist="25400" dir="5400000" algn="bl" rotWithShape="0">
              <a:srgbClr val="9FB0B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3337560"/>
            <a:ext cx="68580" cy="1371600"/>
          </a:xfrm>
          <a:prstGeom prst="rect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3483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Precision &amp; F1-Score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384048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we aren't flagging too many false positives, which would waste the Collections team's time.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72200" y="333756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7ED"/>
            </a:solidFill>
            <a:prstDash val="solid"/>
          </a:ln>
          <a:effectLst>
            <a:outerShdw blurRad="101600" dist="25400" dir="5400000" algn="bl" rotWithShape="0">
              <a:srgbClr val="9FB0B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72200" y="3337560"/>
            <a:ext cx="68580" cy="1371600"/>
          </a:xfrm>
          <a:prstGeom prst="rect">
            <a:avLst/>
          </a:prstGeom>
          <a:solidFill>
            <a:srgbClr val="1F7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37960" y="3483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 Detection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37960" y="384048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tested for Disparate Impact so no demographic group is unfairly flagged by location or employment status.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4983480"/>
            <a:ext cx="10927080" cy="868680"/>
          </a:xfrm>
          <a:prstGeom prst="roundRect">
            <a:avLst>
              <a:gd name="adj" fmla="val 6316"/>
            </a:avLst>
          </a:prstGeom>
          <a:solidFill>
            <a:srgbClr val="0B22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0120" y="498348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6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bias is detected, the offending features are removed; class imbalance is addressed through rebalancing or threshold tuning.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0B22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70432"/>
            <a:ext cx="12188952" cy="64008"/>
          </a:xfrm>
          <a:prstGeom prst="rect">
            <a:avLst/>
          </a:prstGeom>
          <a:solidFill>
            <a:srgbClr val="35C6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82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5C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Delivering Value to Geldium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GELDIUM  |  AI-Powered Collections Strategy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2834640" cy="3977640"/>
          </a:xfrm>
          <a:prstGeom prst="roundRect">
            <a:avLst>
              <a:gd name="adj" fmla="val 1935"/>
            </a:avLst>
          </a:prstGeom>
          <a:solidFill>
            <a:srgbClr val="0B22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600" b="1" dirty="0">
                <a:solidFill>
                  <a:srgbClr val="35C6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7600" dirty="0"/>
          </a:p>
        </p:txBody>
      </p:sp>
      <p:sp>
        <p:nvSpPr>
          <p:cNvPr id="10" name="Text 8"/>
          <p:cNvSpPr/>
          <p:nvPr/>
        </p:nvSpPr>
        <p:spPr>
          <a:xfrm>
            <a:off x="868680" y="38404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5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reduction in 30-day delinquencies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148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0" y="1737360"/>
            <a:ext cx="3886200" cy="397764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2700">
            <a:solidFill>
              <a:srgbClr val="DFE7ED"/>
            </a:solidFill>
            <a:prstDash val="solid"/>
          </a:ln>
          <a:effectLst>
            <a:outerShdw blurRad="101600" dist="25400" dir="5400000" algn="bl" rotWithShape="0">
              <a:srgbClr val="9FB0B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0" y="1737360"/>
            <a:ext cx="68580" cy="3977640"/>
          </a:xfrm>
          <a:prstGeom prst="rect">
            <a:avLst/>
          </a:prstGeom>
          <a:solidFill>
            <a:srgbClr val="1F7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77640" y="19659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Quantitative Outcomes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977640" y="2514600"/>
            <a:ext cx="3337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3E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15% reduction in 30-day delinquencies through early, targeted intervention strategies.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3E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cost savings by automating routine outreach, reallocating human capital to complex cases.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3E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overall repayment recovery rates.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680960" y="1737360"/>
            <a:ext cx="3886200" cy="397764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2700">
            <a:solidFill>
              <a:srgbClr val="DFE7ED"/>
            </a:solidFill>
            <a:prstDash val="solid"/>
          </a:ln>
          <a:effectLst>
            <a:outerShdw blurRad="101600" dist="25400" dir="5400000" algn="bl" rotWithShape="0">
              <a:srgbClr val="9FB0BE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680960" y="1737360"/>
            <a:ext cx="68580" cy="3977640"/>
          </a:xfrm>
          <a:prstGeom prst="rect">
            <a:avLst/>
          </a:prstGeom>
          <a:solidFill>
            <a:srgbClr val="35C6B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01000" y="19659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Qualitative Outcomes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001000" y="2514600"/>
            <a:ext cx="3337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3E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customer trust by leading with empathetic support (hardship offers) rather than purely punitive collections.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3E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scalable, transparent infrastructure that adapts to economic shifts.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3E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 legal and reputational risk through robust ethical guardrails.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7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-2011680"/>
            <a:ext cx="5852160" cy="5852160"/>
          </a:xfrm>
          <a:prstGeom prst="ellipse">
            <a:avLst/>
          </a:prstGeom>
          <a:solidFill>
            <a:srgbClr val="123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41280" y="4023360"/>
            <a:ext cx="3840480" cy="3840480"/>
          </a:xfrm>
          <a:prstGeom prst="ellipse">
            <a:avLst/>
          </a:prstGeom>
          <a:solidFill>
            <a:srgbClr val="1231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5C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Scalable, Fair, and Effective</a:t>
            </a:r>
            <a:endParaRPr lang="en-US" sz="40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Debt Management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41248" y="3886200"/>
            <a:ext cx="1463040" cy="54864"/>
          </a:xfrm>
          <a:prstGeom prst="rect">
            <a:avLst/>
          </a:prstGeom>
          <a:solidFill>
            <a:srgbClr val="F0A2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handles the routine at scale. Humans stay in control of the sensitive. Guardrails keep every decision explainable.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857</Words>
  <Application>Microsoft Macintosh PowerPoint</Application>
  <PresentationFormat>Custom</PresentationFormat>
  <Paragraphs>150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jayesh suthar</cp:lastModifiedBy>
  <cp:revision>2</cp:revision>
  <dcterms:created xsi:type="dcterms:W3CDTF">2026-08-16T12:50:43Z</dcterms:created>
  <dcterms:modified xsi:type="dcterms:W3CDTF">2026-08-16T12:59:11Z</dcterms:modified>
</cp:coreProperties>
</file>